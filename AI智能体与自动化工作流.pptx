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50800" cy="3200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AI 智能体与自动化工作流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Microsoft YaHei"/>
              </a:defRPr>
            </a:pPr>
            <a:r>
              <a:t>发展历程 · 技术变革 · 应用展望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EA1AE"/>
                </a:solidFill>
                <a:latin typeface="Microsoft YaHei"/>
              </a:defRPr>
            </a:pPr>
            <a:r>
              <a:t>从 OpenCloud 到企业数字员工：AI 应用层创业全景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583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Microsoft YaHei"/>
              </a:defRPr>
            </a:pPr>
            <a:r>
              <a:t>2026 年 6 月  ·  Bruce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3200400"/>
            <a:ext cx="109728" cy="10972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41480" y="32004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0" y="32004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664440" y="32004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075920" y="32004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内容导览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594360" cy="50292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AI 工具发展背景与市场趋势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38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1AE"/>
                </a:solidFill>
                <a:latin typeface="Microsoft YaHei"/>
              </a:defRPr>
            </a:pPr>
            <a:r>
              <a:t>从 ChatGPT 到本地 AI 智能体的演进脉络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23160"/>
            <a:ext cx="594360" cy="50292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本地 AI 的技术突破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715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1AE"/>
                </a:solidFill>
                <a:latin typeface="Microsoft YaHei"/>
              </a:defRPr>
            </a:pPr>
            <a:r>
              <a:t>系统级权限如何改变自动化范式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594360" cy="50292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AI 作为新一代操作系统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930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1AE"/>
                </a:solidFill>
                <a:latin typeface="Microsoft YaHei"/>
              </a:defRPr>
            </a:pPr>
            <a:r>
              <a:t>记忆系统、技能生态与多入口协同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40"/>
            <a:ext cx="594360" cy="50292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977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行业冲击与就业变革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270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1AE"/>
                </a:solidFill>
                <a:latin typeface="Microsoft YaHei"/>
              </a:defRPr>
            </a:pPr>
            <a:r>
              <a:t>数字员工时代的人力成本重塑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754880"/>
            <a:ext cx="594360" cy="50292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从确定性到不确定性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0474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1AE"/>
                </a:solidFill>
                <a:latin typeface="Microsoft YaHei"/>
              </a:defRPr>
            </a:pPr>
            <a:r>
              <a:t>系统设计范式的根本转变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532120"/>
            <a:ext cx="594360" cy="50292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自动化内容生产实践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824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1AE"/>
                </a:solidFill>
                <a:latin typeface="Microsoft YaHei"/>
              </a:defRPr>
            </a:pPr>
            <a:r>
              <a:t>端到端工作流构建与部署方案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6309360"/>
            <a:ext cx="594360" cy="50292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AI 企业级集成与未来展望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6601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1AE"/>
                </a:solidFill>
                <a:latin typeface="Microsoft YaHei"/>
              </a:defRPr>
            </a:pPr>
            <a:r>
              <a:t>多 Agent 协同与个人助理趋势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 应用层创业的爆发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2024 春节 OpenCloud 引爆市场，开启本地 AI 智能体时代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834640" cy="36576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83464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2024.02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OpenCloud 诞生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具备读取本地数据能力的 AI</a:t>
            </a:r>
            <a:br/>
            <a:r>
              <a:t>首次突破云端权限限制</a:t>
            </a:r>
            <a:br/>
            <a:r>
              <a:t>引发行业广泛关注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011680"/>
            <a:ext cx="2834640" cy="36576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011680"/>
            <a:ext cx="2834640" cy="508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F7"/>
                </a:solidFill>
                <a:latin typeface="Microsoft YaHei"/>
              </a:defRPr>
            </a:pPr>
            <a:r>
              <a:t>2024 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开源浪潮涌起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OpenCloud 宣布开源</a:t>
            </a:r>
            <a:br/>
            <a:r>
              <a:t>创始人加入 OpenAI</a:t>
            </a:r>
            <a:br/>
            <a:r>
              <a:t>推出 Code、Cowork 等产品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011680"/>
            <a:ext cx="2834640" cy="36576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011680"/>
            <a:ext cx="283464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大厂纷纷入局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918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腾讯推出 WorkBody</a:t>
            </a:r>
            <a:br/>
            <a:r>
              <a:t>小米推出 Me Cloud</a:t>
            </a:r>
            <a:br/>
            <a:r>
              <a:t>类似产品近百款涌现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2011680"/>
            <a:ext cx="2834640" cy="36576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0" y="2011680"/>
            <a:ext cx="2834640" cy="50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4D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企业级落地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32918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AI 成为底层能力支撑</a:t>
            </a:r>
            <a:br/>
            <a:r>
              <a:t>数字员工概念普及</a:t>
            </a:r>
            <a:br/>
            <a:r>
              <a:t>自动化工作流成为标配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EA1A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EA1A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9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EA1A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本地 AI 能力的技术变革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系统级权限让 AI 突破 API 限制，实现对任意软件的自动化操控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943600" cy="53035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传统方式 — 受限的自动化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依赖 OCR 识别界面元素，精度低、易出错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浏览器爬虫受限于权限和反爬机制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缺少 API 的封闭系统无法集成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跨软件操作需要大量适配开发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邮件、Excel 等本地程序无法远程控制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011680"/>
            <a:ext cx="5943600" cy="53035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本地 AI — 突破限制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26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系统级权限直接读取任意程序数据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模拟人工操作，无需 API 即可控制软件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跨终端跨平台无缝衔接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监控邮件并自动回复处理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Figma 内容读取 → IDE 导入 → 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 作为新一代操作系统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记忆、技能与多入口生态构建完整的 AI 协作体系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93192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39319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4AA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记忆系统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CD8"/>
                </a:solidFill>
                <a:latin typeface="Microsoft YaHei"/>
              </a:defRPr>
            </a:pPr>
            <a:r>
              <a:t>短期记忆（工作内存）</a:t>
            </a:r>
            <a:br/>
            <a:r>
              <a:t>长期记忆（文件/数据库）</a:t>
            </a:r>
            <a:br/>
            <a:r>
              <a:t>支持持续性工作流</a:t>
            </a:r>
            <a:br/>
            <a:r>
              <a:t>跨会话上下文保留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103120"/>
            <a:ext cx="393192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103120"/>
            <a:ext cx="3931920" cy="508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C5CF7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技能生态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840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CD8"/>
                </a:solidFill>
                <a:latin typeface="Microsoft YaHei"/>
              </a:defRPr>
            </a:pPr>
            <a:r>
              <a:t>插件平台（Skill Hub）</a:t>
            </a:r>
            <a:br/>
            <a:r>
              <a:t>100+ 领域专家能力</a:t>
            </a:r>
            <a:br/>
            <a:r>
              <a:t>第三方能力集成</a:t>
            </a:r>
            <a:br/>
            <a:r>
              <a:t>可扩展的技能架构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103120"/>
            <a:ext cx="393192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2103120"/>
            <a:ext cx="3931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6B6B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多入口协同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840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CD8"/>
                </a:solidFill>
                <a:latin typeface="Microsoft YaHei"/>
              </a:defRPr>
            </a:pPr>
            <a:r>
              <a:t>微信、Telegram 控制入口</a:t>
            </a:r>
            <a:br/>
            <a:r>
              <a:t>飞书/Slack 深度集成</a:t>
            </a:r>
            <a:br/>
            <a:r>
              <a:t>多 Agent 协同编排</a:t>
            </a:r>
            <a:br/>
            <a:r>
              <a:t>个人助理 + 数字同事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行业冲击与就业形势变化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数字员工取代重复性工作，企业组织结构面临深度重构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2801600" cy="16459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Microsoft YaHei"/>
              </a:defRPr>
            </a:pPr>
            <a:r>
              <a:t>美团传闻 2026 年 6 月 30 日裁员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CD8"/>
                </a:solidFill>
                <a:latin typeface="Microsoft YaHei"/>
              </a:defRPr>
            </a:pPr>
            <a:r>
              <a:t>若业绩不降反升 → 其他公司将跟进 → 互联网行业连锁反应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2926080" cy="29260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Microsoft YaHei"/>
              </a:defRPr>
            </a:pPr>
            <a:r>
              <a:t>自动化写作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00600"/>
            <a:ext cx="9144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029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PPT、日报、周报</a:t>
            </a:r>
            <a:br/>
            <a:r>
              <a:t>新闻稿件、研究报告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023360"/>
            <a:ext cx="2926080" cy="29260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5CF7"/>
                </a:solidFill>
                <a:latin typeface="Microsoft YaHei"/>
              </a:defRPr>
            </a:pPr>
            <a:r>
              <a:t>流程自动化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800600"/>
            <a:ext cx="914400" cy="381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5029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群聊总结 → 任务拆解</a:t>
            </a:r>
            <a:br/>
            <a:r>
              <a:t>飞书审批 → 自动跟进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4023360"/>
            <a:ext cx="2926080" cy="29260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  <a:latin typeface="Microsoft YaHei"/>
              </a:defRPr>
            </a:pPr>
            <a:r>
              <a:t>代码与开发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800600"/>
            <a:ext cx="9144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029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需求分析 → 代码实现</a:t>
            </a:r>
            <a:br/>
            <a:r>
              <a:t>测试 → 部署全流程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0" y="4023360"/>
            <a:ext cx="2926080" cy="29260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B74D"/>
                </a:solidFill>
                <a:latin typeface="Microsoft YaHei"/>
              </a:defRPr>
            </a:pPr>
            <a:r>
              <a:t>招聘筛选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64240" y="4800600"/>
            <a:ext cx="91440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5029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简历筛选 → 面试安排</a:t>
            </a:r>
            <a:br/>
            <a:r>
              <a:t>人才匹配评分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从确定性系统到不确定性系统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AI 带来范式转变：产品设计、测试方法与预期管理的根本调整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94360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EA1AE"/>
                </a:solidFill>
                <a:latin typeface="Microsoft YaHei"/>
              </a:defRPr>
            </a:pPr>
            <a:r>
              <a:t>传统范式 — 确定性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80360"/>
            <a:ext cx="914400" cy="38100"/>
          </a:xfrm>
          <a:prstGeom prst="rect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9EA1AE"/>
              </a:buClr>
            </a:pPr>
            <a:r>
              <a:t>输入 → 输出一致且可复现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9EA1AE"/>
              </a:buClr>
            </a:pPr>
            <a:r>
              <a:t>Excel 公式永远返回相同结果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9EA1AE"/>
              </a:buClr>
            </a:pPr>
            <a:r>
              <a:t>测试覆盖率 = 质量保证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9EA1AE"/>
              </a:buClr>
            </a:pPr>
            <a:r>
              <a:t>设计模式强调完整控制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103120"/>
            <a:ext cx="594360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F7"/>
                </a:solidFill>
                <a:latin typeface="Microsoft YaHei"/>
              </a:defRPr>
            </a:pPr>
            <a:r>
              <a:t>AI 范式 — 不确定性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880360"/>
            <a:ext cx="914400" cy="381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相同提示词可能产生不同输出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交易推荐基于概率而非保证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AI 写稿每次结果存在差异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框架内自由发挥，部分可控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C5CF7"/>
                </a:solidFill>
                <a:latin typeface="Microsoft YaHei"/>
              </a:defRPr>
            </a:pPr>
            <a: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自动化内容生产系统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端到端工作流：信息采集 → 内容整合 → 排版设计 → 审核发布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2926080" cy="34747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29260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237744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信息采集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多源新闻抓取</a:t>
            </a:r>
            <a:br/>
            <a:r>
              <a:t>定时搜索策略</a:t>
            </a:r>
            <a:br/>
            <a:r>
              <a:t>失败重试机制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103120"/>
            <a:ext cx="2926080" cy="34747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103120"/>
            <a:ext cx="2926080" cy="508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2080" y="2377440"/>
            <a:ext cx="640080" cy="640080"/>
          </a:xfrm>
          <a:prstGeom prst="ellipse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内容整合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AI 自动写稿</a:t>
            </a:r>
            <a:br/>
            <a:r>
              <a:t>模板化生成</a:t>
            </a:r>
            <a:br/>
            <a:r>
              <a:t>质量评分校验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2103120"/>
            <a:ext cx="2926080" cy="34747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0" y="2103120"/>
            <a:ext cx="292608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237744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排版设计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封面图自动生成</a:t>
            </a:r>
            <a:br/>
            <a:r>
              <a:t>多品牌模板适配</a:t>
            </a:r>
            <a:br/>
            <a:r>
              <a:t>视频/图文输出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0" y="2103120"/>
            <a:ext cx="2926080" cy="34747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0" y="2103120"/>
            <a:ext cx="2926080" cy="50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95760" y="2377440"/>
            <a:ext cx="640080" cy="64008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审核发布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飞书审批工作流</a:t>
            </a:r>
            <a:br/>
            <a:r>
              <a:t>自动推送通知</a:t>
            </a:r>
            <a:br/>
            <a:r>
              <a:t>WordPress 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EA1A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EA1A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EA1A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943600"/>
            <a:ext cx="12801600" cy="164592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62179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实际部署方案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67512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CD8"/>
                </a:solidFill>
                <a:latin typeface="Microsoft YaHei"/>
              </a:defRPr>
            </a:pPr>
            <a:r>
              <a:t>开源方案（OpenCloud）：可控性强但调试复杂  |  商业方案（WorkBody）：易用但存在服务商风险</a:t>
            </a:r>
            <a:br/>
            <a:r>
              <a:t>推荐策略：商业方案快速验证 → 苹果设备迁移 → GitHub 同步保障可移植性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 在企业工作流中的深度集成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多 Agent 协同、专家工作流、外部连接器，AI 逐步成为企业底层能力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3931920" cy="24688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39319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代码开发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需求分析 → 代码实现 → 测试部署</a:t>
            </a:r>
            <a:br/>
            <a:r>
              <a:t>全流程 AI 辅助</a:t>
            </a:r>
            <a:br/>
            <a:r>
              <a:t>LSP 集成提供代码智能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3931920" cy="24688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2011680"/>
            <a:ext cx="3931920" cy="508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F7"/>
                </a:solidFill>
                <a:latin typeface="Microsoft YaHei"/>
              </a:defRPr>
            </a:pPr>
            <a:r>
              <a:t>会议管理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926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会议纪要自动生成</a:t>
            </a:r>
            <a:br/>
            <a:r>
              <a:t>待办任务拆解分发</a:t>
            </a:r>
            <a:br/>
            <a:r>
              <a:t>飞书日历/任务同步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011680"/>
            <a:ext cx="3931920" cy="24688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011680"/>
            <a:ext cx="3931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品牌设计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926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AI 生产品牌素材</a:t>
            </a:r>
            <a:br/>
            <a:r>
              <a:t>设计稿自动迭代</a:t>
            </a:r>
            <a:br/>
            <a:r>
              <a:t>多平台内容适配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3931920" cy="24688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846320"/>
            <a:ext cx="3931920" cy="50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Microsoft YaHei"/>
              </a:defRPr>
            </a:pPr>
            <a:r>
              <a:t>跨境支付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60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多币种结算处理</a:t>
            </a:r>
            <a:br/>
            <a:r>
              <a:t>合规审核自动化</a:t>
            </a:r>
            <a:br/>
            <a:r>
              <a:t>RWA 资产代币化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46320"/>
            <a:ext cx="3931920" cy="24688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484632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招聘筛选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5760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简历智能匹配</a:t>
            </a:r>
            <a:br/>
            <a:r>
              <a:t>面试日程协调</a:t>
            </a:r>
            <a:br/>
            <a:r>
              <a:t>人才画像生成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4846320"/>
            <a:ext cx="3931920" cy="246888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4846320"/>
            <a:ext cx="3931920" cy="508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9F9"/>
                </a:solidFill>
                <a:latin typeface="Microsoft YaHei"/>
              </a:defRPr>
            </a:pPr>
            <a:r>
              <a:t>内容运营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5760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CD8"/>
                </a:solidFill>
                <a:latin typeface="Microsoft YaHei"/>
              </a:defRPr>
            </a:pPr>
            <a:r>
              <a:t>多语言内容生成</a:t>
            </a:r>
            <a:br/>
            <a:r>
              <a:t>SEO 优化建议</a:t>
            </a:r>
            <a:br/>
            <a:r>
              <a:t>数据驱动选题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运行监控与成本管理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积分制消耗模型 + 多层兜底策略保障系统稳定运行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640080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Microsoft YaHei"/>
              </a:defRPr>
            </a:pPr>
            <a:r>
              <a:t>运行监控机制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80360"/>
            <a:ext cx="9144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定时任务调度 — 7:00 早报 / 8:30 速报 / 19:00 时评 / 20:30 深度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发布状态实时回显，成功/失败一目了然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失败兜底处理 — 轮询重试 + 竞态条件防护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Token 过期自动检测与刷新机制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飞书审批流 → 人工确认 → 自动发布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03120"/>
            <a:ext cx="594360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F7"/>
                </a:solidFill>
                <a:latin typeface="Microsoft YaHei"/>
              </a:defRPr>
            </a:pPr>
            <a:r>
              <a:t>成本优化策略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880360"/>
            <a:ext cx="914400" cy="381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每日免费额度有限，需合理分配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高峰期积分不足 → 考虑购买套餐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可切换 DeepSeek 等高性价比模型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封面图生成使用 API 批量处理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配置化部署降低迁移和维护成本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未来展望与行动建议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1AE"/>
                </a:solidFill>
                <a:latin typeface="Microsoft YaHei"/>
              </a:defRPr>
            </a:pPr>
            <a:r>
              <a:t>拥抱变化，提升不可替代的能力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393192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39319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Microsoft YaHei"/>
              </a:defRPr>
            </a:pPr>
            <a:r>
              <a:t>趋势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880360"/>
            <a:ext cx="9144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1089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软件将集成大模型 + 控制中心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个人助理 → 企业数字员工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更多 AI + 区块链融合产品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00D4AA"/>
              </a:buClr>
            </a:pPr>
            <a:r>
              <a:t>自动化工作流成为企业标配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011680"/>
            <a:ext cx="393192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011680"/>
            <a:ext cx="3931920" cy="508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5CF7"/>
                </a:solidFill>
                <a:latin typeface="Microsoft YaHei"/>
              </a:defRPr>
            </a:pPr>
            <a:r>
              <a:t>挑战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880360"/>
            <a:ext cx="914400" cy="38100"/>
          </a:xfrm>
          <a:prstGeom prst="rect">
            <a:avLst/>
          </a:prstGeom>
          <a:solidFill>
            <a:srgbClr val="6C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1089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权限与数据安全需要平衡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不确定型系统的测试与验收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多平台适配的标准化需求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6C5CF7"/>
              </a:buClr>
            </a:pPr>
            <a:r>
              <a:t>AI 决策的可解释性与合规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011680"/>
            <a:ext cx="3931920" cy="5029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2011680"/>
            <a:ext cx="3931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Microsoft YaHei"/>
              </a:defRPr>
            </a:pPr>
            <a:r>
              <a:t>行动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2880360"/>
            <a:ext cx="9144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1089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学习 AI 工具提升个人竞争力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将重复性工作交给自动化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关注开源项目保持技术敏感</a:t>
            </a:r>
          </a:p>
          <a:p>
            <a:pPr>
              <a:spcAft>
                <a:spcPts val="800"/>
              </a:spcAft>
              <a:defRPr sz="1400">
                <a:solidFill>
                  <a:srgbClr val="C8CCD8"/>
                </a:solidFill>
                <a:latin typeface="Microsoft YaHei"/>
              </a:defRPr>
              <a:buChar char="▸"/>
              <a:buClr>
                <a:srgbClr val="FF6B6B"/>
              </a:buClr>
            </a:pPr>
            <a:r>
              <a:t>构建企业级 AI 应用能力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  <a:latin typeface="Microsoft YaHei"/>
              </a:defRPr>
            </a:pPr>
            <a:r>
              <a:t>AI 正在重塑每一个行业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A1AE"/>
                </a:solidFill>
                <a:latin typeface="Microsoft YaHei"/>
              </a:defRPr>
            </a:pPr>
            <a:r>
              <a:t>拥抱变化  ·  持续学习  ·  提升不可替代性</a:t>
            </a:r>
          </a:p>
        </p:txBody>
      </p:sp>
      <p:sp>
        <p:nvSpPr>
          <p:cNvPr id="6" name="Oval 5"/>
          <p:cNvSpPr/>
          <p:nvPr/>
        </p:nvSpPr>
        <p:spPr>
          <a:xfrm>
            <a:off x="6400800" y="59436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12280" y="59436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0" y="5943600"/>
            <a:ext cx="109728" cy="10972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35240" y="59436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0" y="5943600"/>
            <a:ext cx="109728" cy="109728"/>
          </a:xfrm>
          <a:prstGeom prst="ellipse">
            <a:avLst/>
          </a:prstGeom>
          <a:solidFill>
            <a:srgbClr val="9EA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6858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080"/>
                </a:solidFill>
                <a:latin typeface="Microsoft YaHei"/>
              </a:defRPr>
            </a:pPr>
            <a:r>
              <a:t>2026 年 6 月  ·  Bruce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0" y="7772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EA1AE"/>
                </a:solidFill>
                <a:latin typeface="Microsoft YaHe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